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396013-AF4B-42E0-9535-8661E1BDDE1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C4CB21B5-9155-4158-8096-D2A3D6AD413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986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325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343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44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689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278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010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560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183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959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5740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1962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6068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3068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5994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87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918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1338C8-357F-4D61-A800-697B2290FDD0}" type="datetimeFigureOut">
              <a:rPr lang="en-ZA" smtClean="0"/>
              <a:t>2026/06/22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DCDDF-B7B1-4C31-9FDB-AB42D4C004F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16263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54FF-4797-46F4-0F9D-1B2ECA9C2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3829" y="1447800"/>
            <a:ext cx="4397828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4700"/>
              <a:t>Vehicle Valuation System – Mutuka Automotive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3AE29-77DD-7554-2267-ABB3BA0F5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3829" y="4777380"/>
            <a:ext cx="4397828" cy="8614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1100"/>
              <a:t>Sekwanele Njoko</a:t>
            </a:r>
          </a:p>
          <a:p>
            <a:pPr>
              <a:lnSpc>
                <a:spcPct val="90000"/>
              </a:lnSpc>
            </a:pPr>
            <a:r>
              <a:rPr lang="en-ZA" sz="1100"/>
              <a:t>ITSCA2-12 Scientific Computing with Python</a:t>
            </a:r>
          </a:p>
          <a:p>
            <a:pPr>
              <a:lnSpc>
                <a:spcPct val="90000"/>
              </a:lnSpc>
            </a:pPr>
            <a:r>
              <a:rPr lang="en-ZA" sz="1100"/>
              <a:t>24 June 2026 </a:t>
            </a:r>
          </a:p>
        </p:txBody>
      </p:sp>
      <p:pic>
        <p:nvPicPr>
          <p:cNvPr id="28" name="Graphic 27" descr="Car">
            <a:extLst>
              <a:ext uri="{FF2B5EF4-FFF2-40B4-BE49-F238E27FC236}">
                <a16:creationId xmlns:a16="http://schemas.microsoft.com/office/drawing/2014/main" id="{99186130-FDEC-5BF6-D388-4089EC7D4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854" y="703489"/>
            <a:ext cx="5450557" cy="5450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7553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946DE0-C4BE-314A-D9B0-4376A5ED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2600" b="1" dirty="0"/>
              <a:t>Business Problem</a:t>
            </a:r>
            <a:br>
              <a:rPr lang="en-ZA" sz="2600" dirty="0"/>
            </a:br>
            <a:br>
              <a:rPr lang="en-ZA" sz="2600" dirty="0"/>
            </a:br>
            <a:endParaRPr lang="en-ZA" sz="2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7F3B7C-79D2-713A-7C4E-B426CDBB6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3" y="2052214"/>
            <a:ext cx="5246848" cy="4196185"/>
          </a:xfrm>
        </p:spPr>
        <p:txBody>
          <a:bodyPr>
            <a:normAutofit/>
          </a:bodyPr>
          <a:lstStyle/>
          <a:p>
            <a:r>
              <a:rPr lang="en-ZA" b="1" dirty="0"/>
              <a:t>Problem:</a:t>
            </a:r>
            <a:r>
              <a:rPr lang="en-ZA" dirty="0"/>
              <a:t> Manual pricing is slow and inconsistent.</a:t>
            </a:r>
          </a:p>
          <a:p>
            <a:r>
              <a:rPr lang="en-ZA" b="1" dirty="0"/>
              <a:t>Solution:</a:t>
            </a:r>
            <a:r>
              <a:rPr lang="en-ZA" dirty="0"/>
              <a:t> Data-driven valuation system.</a:t>
            </a:r>
          </a:p>
          <a:p>
            <a:r>
              <a:rPr lang="en-ZA" b="1" dirty="0"/>
              <a:t>Key Constraints:</a:t>
            </a:r>
            <a:r>
              <a:rPr lang="en-ZA" dirty="0"/>
              <a:t> No mileage, age, or condition data.</a:t>
            </a:r>
          </a:p>
          <a:p>
            <a:r>
              <a:rPr lang="en-ZA" b="1" dirty="0"/>
              <a:t>Goal:</a:t>
            </a:r>
            <a:r>
              <a:rPr lang="en-ZA" dirty="0"/>
              <a:t> Automate 64% of pricing, flag 36% for manual review.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0A147-4B43-23BB-5B06-2319DE1A1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16" y="2052213"/>
            <a:ext cx="4662427" cy="41961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880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9178-7BCC-7878-838F-978D2F6B1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ZA" b="1" dirty="0"/>
              <a:t>Data &amp; Segmentation (Q1-Q2)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7D3B-0C60-4728-34EB-907B2D5A8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57" y="2052214"/>
            <a:ext cx="4917064" cy="4196185"/>
          </a:xfrm>
        </p:spPr>
        <p:txBody>
          <a:bodyPr>
            <a:normAutofit/>
          </a:bodyPr>
          <a:lstStyle/>
          <a:p>
            <a:r>
              <a:rPr lang="en-ZA" b="1" dirty="0"/>
              <a:t>Data:</a:t>
            </a:r>
            <a:r>
              <a:rPr lang="en-ZA" dirty="0"/>
              <a:t> 169 cleaned cars, 26 features.</a:t>
            </a:r>
          </a:p>
          <a:p>
            <a:r>
              <a:rPr lang="en-ZA" b="1" dirty="0"/>
              <a:t>3 Segments:</a:t>
            </a:r>
            <a:endParaRPr lang="en-ZA" dirty="0"/>
          </a:p>
          <a:p>
            <a:pPr lvl="1"/>
            <a:r>
              <a:rPr lang="en-ZA" dirty="0"/>
              <a:t>Economy (47 cars) – small, efficient</a:t>
            </a:r>
          </a:p>
          <a:p>
            <a:pPr lvl="1"/>
            <a:r>
              <a:rPr lang="en-ZA" dirty="0"/>
              <a:t>Mid-Range (66 cars) – balanced</a:t>
            </a:r>
          </a:p>
          <a:p>
            <a:pPr lvl="1"/>
            <a:r>
              <a:rPr lang="en-ZA" dirty="0"/>
              <a:t>Performance/Luxury (56 cars) – large, powerful</a:t>
            </a:r>
          </a:p>
          <a:p>
            <a:r>
              <a:rPr lang="en-ZA" b="1" dirty="0"/>
              <a:t>Price Bands:</a:t>
            </a:r>
            <a:r>
              <a:rPr lang="en-ZA" dirty="0"/>
              <a:t> Budget, Mid-Range, High-Value, Premium.</a:t>
            </a:r>
          </a:p>
          <a:p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F2DAD-0947-8B90-A2F8-A0C57B2ED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16" y="2303567"/>
            <a:ext cx="5451627" cy="36934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827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1A2A-BB43-605D-BE0A-7C1E0B73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09601"/>
            <a:ext cx="4793473" cy="1675975"/>
          </a:xfrm>
        </p:spPr>
        <p:txBody>
          <a:bodyPr>
            <a:normAutofit/>
          </a:bodyPr>
          <a:lstStyle/>
          <a:p>
            <a:r>
              <a:rPr lang="en-ZA" b="1"/>
              <a:t> Model Results (Q3)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6419B-1285-23B4-AFF0-30CF26EEB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2" b="-1"/>
          <a:stretch>
            <a:fillRect/>
          </a:stretch>
        </p:blipFill>
        <p:spPr>
          <a:xfrm>
            <a:off x="6094412" y="609137"/>
            <a:ext cx="5449888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C546BE4-C7A3-4A47-9FA5-0866D5E65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9286-3EF2-A191-05B6-8D8BE6144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75" y="2484544"/>
            <a:ext cx="4799145" cy="376385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b="1"/>
              <a:t>Best Model:</a:t>
            </a:r>
            <a:r>
              <a:rPr lang="en-ZA"/>
              <a:t> Random Forest</a:t>
            </a:r>
          </a:p>
          <a:p>
            <a:pPr>
              <a:lnSpc>
                <a:spcPct val="90000"/>
              </a:lnSpc>
            </a:pPr>
            <a:r>
              <a:rPr lang="en-ZA" b="1"/>
              <a:t>Key Metrics:</a:t>
            </a:r>
            <a:endParaRPr lang="en-ZA"/>
          </a:p>
          <a:p>
            <a:pPr lvl="1">
              <a:lnSpc>
                <a:spcPct val="90000"/>
              </a:lnSpc>
            </a:pPr>
            <a:r>
              <a:rPr lang="en-ZA"/>
              <a:t>R² = 0.951 (explains 95.1% of price variation)</a:t>
            </a:r>
          </a:p>
          <a:p>
            <a:pPr lvl="1">
              <a:lnSpc>
                <a:spcPct val="90000"/>
              </a:lnSpc>
            </a:pPr>
            <a:r>
              <a:rPr lang="en-ZA"/>
              <a:t>MAE = R25,250 (average error)</a:t>
            </a:r>
          </a:p>
          <a:p>
            <a:pPr lvl="1">
              <a:lnSpc>
                <a:spcPct val="90000"/>
              </a:lnSpc>
            </a:pPr>
            <a:r>
              <a:rPr lang="en-ZA"/>
              <a:t>MAPE = 8.8% (percentage error)</a:t>
            </a:r>
          </a:p>
          <a:p>
            <a:pPr>
              <a:lnSpc>
                <a:spcPct val="90000"/>
              </a:lnSpc>
            </a:pPr>
            <a:r>
              <a:rPr lang="en-ZA" b="1"/>
              <a:t>Feature Importance:</a:t>
            </a:r>
            <a:r>
              <a:rPr lang="en-ZA"/>
              <a:t> Curb weight, engine size, horsepower are top predictors.</a:t>
            </a:r>
          </a:p>
          <a:p>
            <a:pPr>
              <a:lnSpc>
                <a:spcPct val="90000"/>
              </a:lnSpc>
            </a:pPr>
            <a:r>
              <a:rPr lang="en-ZA" b="1"/>
              <a:t>Decision Rules (Q4.3)</a:t>
            </a:r>
            <a:endParaRPr lang="en-Z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3491BC-CB56-1600-070A-0EBA95493D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333"/>
          <a:stretch>
            <a:fillRect/>
          </a:stretch>
        </p:blipFill>
        <p:spPr>
          <a:xfrm>
            <a:off x="6094412" y="3482108"/>
            <a:ext cx="5449888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412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B7A8D-4445-1727-65A4-EF4696B2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ZA" sz="3600" b="1">
                <a:solidFill>
                  <a:srgbClr val="EBEBEB"/>
                </a:solidFill>
              </a:rPr>
              <a:t>Decision Rules (Q4.3)</a:t>
            </a:r>
            <a:br>
              <a:rPr lang="en-ZA" sz="3600">
                <a:solidFill>
                  <a:srgbClr val="EBEBEB"/>
                </a:solidFill>
              </a:rPr>
            </a:br>
            <a:br>
              <a:rPr lang="en-ZA" sz="3600">
                <a:solidFill>
                  <a:srgbClr val="EBEBEB"/>
                </a:solidFill>
              </a:rPr>
            </a:br>
            <a:endParaRPr lang="en-ZA" sz="360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16A5-F71D-766D-ADE0-A57D950A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ZA" b="1" dirty="0">
                <a:solidFill>
                  <a:srgbClr val="FFFFFF"/>
                </a:solidFill>
              </a:rPr>
              <a:t>Auto-Pricing:</a:t>
            </a:r>
            <a:r>
              <a:rPr lang="en-ZA" dirty="0">
                <a:solidFill>
                  <a:srgbClr val="FFFFFF"/>
                </a:solidFill>
              </a:rPr>
              <a:t> Budget/Mid-Range, Economy/Mid-Range segments, hatchbacks/sedans.</a:t>
            </a:r>
          </a:p>
          <a:p>
            <a:r>
              <a:rPr lang="en-ZA" b="1" dirty="0">
                <a:solidFill>
                  <a:srgbClr val="FFFFFF"/>
                </a:solidFill>
              </a:rPr>
              <a:t>Manual Review:</a:t>
            </a:r>
            <a:r>
              <a:rPr lang="en-ZA" dirty="0">
                <a:solidFill>
                  <a:srgbClr val="FFFFFF"/>
                </a:solidFill>
              </a:rPr>
              <a:t> Premium, Performance segment, convertibles/hardtops, rare makes.</a:t>
            </a:r>
          </a:p>
          <a:p>
            <a:r>
              <a:rPr lang="en-ZA" b="1" dirty="0">
                <a:solidFill>
                  <a:srgbClr val="FFFFFF"/>
                </a:solidFill>
              </a:rPr>
              <a:t>Coverage:</a:t>
            </a:r>
            <a:r>
              <a:rPr lang="en-ZA" dirty="0">
                <a:solidFill>
                  <a:srgbClr val="FFFFFF"/>
                </a:solidFill>
              </a:rPr>
              <a:t> 64% auto-pricing, 36% manual review.</a:t>
            </a:r>
          </a:p>
          <a:p>
            <a:endParaRPr lang="en-ZA" dirty="0">
              <a:solidFill>
                <a:srgbClr val="FFFFFF"/>
              </a:solidFill>
            </a:endParaRP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9F787-FFAC-33F9-7BD8-55673B907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7" r="1783"/>
          <a:stretch>
            <a:fillRect/>
          </a:stretch>
        </p:blipFill>
        <p:spPr>
          <a:xfrm>
            <a:off x="7230352" y="2"/>
            <a:ext cx="4962068" cy="3428999"/>
          </a:xfrm>
          <a:custGeom>
            <a:avLst/>
            <a:gdLst/>
            <a:ahLst/>
            <a:cxnLst/>
            <a:rect l="l" t="t" r="r" b="b"/>
            <a:pathLst>
              <a:path w="4962068" h="3428999">
                <a:moveTo>
                  <a:pt x="0" y="0"/>
                </a:moveTo>
                <a:lnTo>
                  <a:pt x="1343538" y="0"/>
                </a:lnTo>
                <a:lnTo>
                  <a:pt x="1343538" y="1"/>
                </a:lnTo>
                <a:lnTo>
                  <a:pt x="4962068" y="1"/>
                </a:lnTo>
                <a:lnTo>
                  <a:pt x="4962067" y="3428999"/>
                </a:lnTo>
                <a:lnTo>
                  <a:pt x="250957" y="3428999"/>
                </a:lnTo>
                <a:lnTo>
                  <a:pt x="250957" y="3343961"/>
                </a:lnTo>
                <a:lnTo>
                  <a:pt x="251965" y="3201315"/>
                </a:lnTo>
                <a:lnTo>
                  <a:pt x="250957" y="3057297"/>
                </a:lnTo>
                <a:lnTo>
                  <a:pt x="248940" y="2911221"/>
                </a:lnTo>
                <a:lnTo>
                  <a:pt x="247091" y="2765146"/>
                </a:lnTo>
                <a:lnTo>
                  <a:pt x="243057" y="2617013"/>
                </a:lnTo>
                <a:lnTo>
                  <a:pt x="238855" y="2467509"/>
                </a:lnTo>
                <a:lnTo>
                  <a:pt x="233980" y="2318004"/>
                </a:lnTo>
                <a:lnTo>
                  <a:pt x="227089" y="2167128"/>
                </a:lnTo>
                <a:lnTo>
                  <a:pt x="218852" y="2014881"/>
                </a:lnTo>
                <a:lnTo>
                  <a:pt x="210952" y="1861947"/>
                </a:lnTo>
                <a:lnTo>
                  <a:pt x="200867" y="1709014"/>
                </a:lnTo>
                <a:lnTo>
                  <a:pt x="188764" y="1554023"/>
                </a:lnTo>
                <a:lnTo>
                  <a:pt x="176662" y="1401090"/>
                </a:lnTo>
                <a:lnTo>
                  <a:pt x="162710" y="1245413"/>
                </a:lnTo>
                <a:lnTo>
                  <a:pt x="147414" y="1089051"/>
                </a:lnTo>
                <a:lnTo>
                  <a:pt x="131278" y="934746"/>
                </a:lnTo>
                <a:lnTo>
                  <a:pt x="112452" y="778383"/>
                </a:lnTo>
                <a:lnTo>
                  <a:pt x="92281" y="622707"/>
                </a:lnTo>
                <a:lnTo>
                  <a:pt x="72278" y="466344"/>
                </a:lnTo>
                <a:lnTo>
                  <a:pt x="48914" y="310668"/>
                </a:lnTo>
                <a:lnTo>
                  <a:pt x="25045" y="155677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16A70-8E25-14E0-CAFA-9C19A927D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01" r="-1" b="10434"/>
          <a:stretch>
            <a:fillRect/>
          </a:stretch>
        </p:blipFill>
        <p:spPr>
          <a:xfrm>
            <a:off x="7228756" y="3428997"/>
            <a:ext cx="4963244" cy="3429002"/>
          </a:xfrm>
          <a:custGeom>
            <a:avLst/>
            <a:gdLst/>
            <a:ahLst/>
            <a:cxnLst/>
            <a:rect l="l" t="t" r="r" b="b"/>
            <a:pathLst>
              <a:path w="4963244" h="3429002">
                <a:moveTo>
                  <a:pt x="252134" y="0"/>
                </a:moveTo>
                <a:lnTo>
                  <a:pt x="4963244" y="0"/>
                </a:lnTo>
                <a:lnTo>
                  <a:pt x="4963244" y="3429002"/>
                </a:lnTo>
                <a:lnTo>
                  <a:pt x="900697" y="3429002"/>
                </a:lnTo>
                <a:lnTo>
                  <a:pt x="900697" y="3429001"/>
                </a:lnTo>
                <a:lnTo>
                  <a:pt x="0" y="3429001"/>
                </a:lnTo>
                <a:lnTo>
                  <a:pt x="5883" y="3388539"/>
                </a:lnTo>
                <a:lnTo>
                  <a:pt x="23196" y="3269895"/>
                </a:lnTo>
                <a:lnTo>
                  <a:pt x="35299" y="3183484"/>
                </a:lnTo>
                <a:lnTo>
                  <a:pt x="48073" y="3080614"/>
                </a:lnTo>
                <a:lnTo>
                  <a:pt x="63369" y="2958542"/>
                </a:lnTo>
                <a:lnTo>
                  <a:pt x="79506" y="2823439"/>
                </a:lnTo>
                <a:lnTo>
                  <a:pt x="96483" y="2671192"/>
                </a:lnTo>
                <a:lnTo>
                  <a:pt x="114469" y="2505228"/>
                </a:lnTo>
                <a:lnTo>
                  <a:pt x="132454" y="2324863"/>
                </a:lnTo>
                <a:lnTo>
                  <a:pt x="150776" y="2132839"/>
                </a:lnTo>
                <a:lnTo>
                  <a:pt x="167753" y="1925727"/>
                </a:lnTo>
                <a:lnTo>
                  <a:pt x="184058" y="1709014"/>
                </a:lnTo>
                <a:lnTo>
                  <a:pt x="198849" y="1479957"/>
                </a:lnTo>
                <a:lnTo>
                  <a:pt x="212969" y="1241299"/>
                </a:lnTo>
                <a:lnTo>
                  <a:pt x="226248" y="992353"/>
                </a:lnTo>
                <a:lnTo>
                  <a:pt x="230955" y="864794"/>
                </a:lnTo>
                <a:lnTo>
                  <a:pt x="236165" y="734493"/>
                </a:lnTo>
                <a:lnTo>
                  <a:pt x="241040" y="602134"/>
                </a:lnTo>
                <a:lnTo>
                  <a:pt x="244234" y="469088"/>
                </a:lnTo>
                <a:lnTo>
                  <a:pt x="247091" y="333300"/>
                </a:lnTo>
                <a:lnTo>
                  <a:pt x="250117" y="196140"/>
                </a:lnTo>
                <a:lnTo>
                  <a:pt x="252134" y="56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3745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99AC-62D5-D25A-522E-182B812D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Risks &amp; Recommendations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FE6E5-58D9-0548-373A-49A957B57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Biggest Risk:</a:t>
            </a:r>
            <a:r>
              <a:rPr lang="en-ZA" dirty="0"/>
              <a:t> Premium cars are </a:t>
            </a:r>
            <a:r>
              <a:rPr lang="en-ZA" b="1" dirty="0"/>
              <a:t>underpriced</a:t>
            </a:r>
            <a:r>
              <a:rPr lang="en-ZA" dirty="0"/>
              <a:t> by ~R16,000.</a:t>
            </a:r>
          </a:p>
          <a:p>
            <a:r>
              <a:rPr lang="en-ZA" b="1" dirty="0"/>
              <a:t>Do NOT trust:</a:t>
            </a:r>
            <a:r>
              <a:rPr lang="en-ZA" dirty="0"/>
              <a:t> Convertibles, hardtops, Performance segment, rare premium makes.</a:t>
            </a:r>
          </a:p>
          <a:p>
            <a:r>
              <a:rPr lang="en-ZA" b="1" dirty="0"/>
              <a:t>Recommendation:</a:t>
            </a:r>
            <a:r>
              <a:rPr lang="en-ZA" dirty="0"/>
              <a:t> </a:t>
            </a:r>
            <a:r>
              <a:rPr lang="en-ZA" b="1" dirty="0"/>
              <a:t>Partial automation</a:t>
            </a:r>
            <a:r>
              <a:rPr lang="en-ZA" dirty="0"/>
              <a:t> with clear manual review flags.</a:t>
            </a:r>
          </a:p>
        </p:txBody>
      </p:sp>
    </p:spTree>
    <p:extLst>
      <p:ext uri="{BB962C8B-B14F-4D97-AF65-F5344CB8AC3E}">
        <p14:creationId xmlns:p14="http://schemas.microsoft.com/office/powerpoint/2010/main" val="323923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305C03-424C-0D22-04FF-0E4ABFA8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652" y="2639864"/>
            <a:ext cx="9404723" cy="1240158"/>
          </a:xfrm>
        </p:spPr>
        <p:txBody>
          <a:bodyPr/>
          <a:lstStyle/>
          <a:p>
            <a:pPr algn="ctr"/>
            <a:r>
              <a:rPr lang="en-ZA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947161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265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Vehicle Valuation System – Mutuka Automotive</vt:lpstr>
      <vt:lpstr>Business Problem  </vt:lpstr>
      <vt:lpstr>Data &amp; Segmentation (Q1-Q2)</vt:lpstr>
      <vt:lpstr> Model Results (Q3)</vt:lpstr>
      <vt:lpstr>Decision Rules (Q4.3)  </vt:lpstr>
      <vt:lpstr>Risks &amp; Recommendations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Sekwanele Njoko</dc:creator>
  <cp:lastModifiedBy>Sekwanele Njoko</cp:lastModifiedBy>
  <cp:revision>1</cp:revision>
  <dcterms:created xsi:type="dcterms:W3CDTF">2026-06-22T13:23:26Z</dcterms:created>
  <dcterms:modified xsi:type="dcterms:W3CDTF">2026-06-22T14:14:06Z</dcterms:modified>
</cp:coreProperties>
</file>